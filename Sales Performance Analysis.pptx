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0F172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Andhra Pradesh</c:v>
                </c:pt>
                <c:pt idx="1">
                  <c:v>Maharashtra</c:v>
                </c:pt>
                <c:pt idx="2">
                  <c:v>Madhya Pradesh</c:v>
                </c:pt>
                <c:pt idx="3">
                  <c:v>Punjab</c:v>
                </c:pt>
                <c:pt idx="4">
                  <c:v>Bihar</c:v>
                </c:pt>
                <c:pt idx="5">
                  <c:v>Kerala</c:v>
                </c:pt>
                <c:pt idx="6">
                  <c:v>Karnataka</c:v>
                </c:pt>
                <c:pt idx="7">
                  <c:v>Assam</c:v>
                </c:pt>
                <c:pt idx="8">
                  <c:v>Odisha</c:v>
                </c:pt>
                <c:pt idx="9">
                  <c:v>Haryana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2119252</c:v>
                </c:pt>
                <c:pt idx="1">
                  <c:v>2109858</c:v>
                </c:pt>
                <c:pt idx="2">
                  <c:v>2091429</c:v>
                </c:pt>
                <c:pt idx="3">
                  <c:v>2052446</c:v>
                </c:pt>
                <c:pt idx="4">
                  <c:v>2032761</c:v>
                </c:pt>
                <c:pt idx="5">
                  <c:v>2031097</c:v>
                </c:pt>
                <c:pt idx="6">
                  <c:v>2000418</c:v>
                </c:pt>
                <c:pt idx="7">
                  <c:v>1993778</c:v>
                </c:pt>
                <c:pt idx="8">
                  <c:v>1990800</c:v>
                </c:pt>
                <c:pt idx="9">
                  <c:v>1986470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F172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5a116de-da78-4551-9e29-7519a14f2b6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ln w="31750" cap="flat" cmpd="sng" algn="ctr">
              <a:solidFill>
                <a:srgbClr val="1D4E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4ED8"/>
              </a:solidFill>
              <a:ln w="9525" cap="flat" cmpd="sng" algn="ctr">
                <a:solidFill>
                  <a:srgbClr val="1D4ED8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1061</c:v>
                </c:pt>
                <c:pt idx="1">
                  <c:v>987</c:v>
                </c:pt>
                <c:pt idx="2">
                  <c:v>1116</c:v>
                </c:pt>
                <c:pt idx="3">
                  <c:v>1037</c:v>
                </c:pt>
                <c:pt idx="4">
                  <c:v>1010</c:v>
                </c:pt>
                <c:pt idx="5">
                  <c:v>1070</c:v>
                </c:pt>
                <c:pt idx="6">
                  <c:v>1060</c:v>
                </c:pt>
                <c:pt idx="7">
                  <c:v>1106</c:v>
                </c:pt>
                <c:pt idx="8">
                  <c:v>949</c:v>
                </c:pt>
                <c:pt idx="9">
                  <c:v>1091</c:v>
                </c:pt>
                <c:pt idx="10">
                  <c:v>1011</c:v>
                </c:pt>
                <c:pt idx="11">
                  <c:v>1080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ln w="31750" cap="flat" cmpd="sng" algn="ctr">
              <a:solidFill>
                <a:srgbClr val="F9731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7316"/>
              </a:solidFill>
              <a:ln w="9525" cap="flat" cmpd="sng" algn="ctr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1080</c:v>
                </c:pt>
                <c:pt idx="1">
                  <c:v>985</c:v>
                </c:pt>
                <c:pt idx="2">
                  <c:v>1040</c:v>
                </c:pt>
                <c:pt idx="3">
                  <c:v>1122</c:v>
                </c:pt>
                <c:pt idx="4">
                  <c:v>1111</c:v>
                </c:pt>
                <c:pt idx="5">
                  <c:v>1080</c:v>
                </c:pt>
                <c:pt idx="6">
                  <c:v>1026</c:v>
                </c:pt>
                <c:pt idx="7">
                  <c:v>1181</c:v>
                </c:pt>
                <c:pt idx="8">
                  <c:v>1043</c:v>
                </c:pt>
                <c:pt idx="9">
                  <c:v>1083</c:v>
                </c:pt>
                <c:pt idx="10">
                  <c:v>988</c:v>
                </c:pt>
                <c:pt idx="11">
                  <c:v>1025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</c:v>
                </c:pt>
              </c:strCache>
            </c:strRef>
          </c:tx>
          <c:spPr>
            <a:ln w="31750" cap="flat" cmpd="sng" algn="ctr">
              <a:solidFill>
                <a:srgbClr val="16A3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6A34A"/>
              </a:solidFill>
              <a:ln w="9525" cap="flat" cmpd="sng" algn="ctr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1101</c:v>
                </c:pt>
                <c:pt idx="1">
                  <c:v>1048</c:v>
                </c:pt>
                <c:pt idx="2">
                  <c:v>1005</c:v>
                </c:pt>
                <c:pt idx="3">
                  <c:v>1085</c:v>
                </c:pt>
                <c:pt idx="4">
                  <c:v>1116</c:v>
                </c:pt>
                <c:pt idx="5">
                  <c:v>1040</c:v>
                </c:pt>
                <c:pt idx="6">
                  <c:v>1055</c:v>
                </c:pt>
                <c:pt idx="7">
                  <c:v>1066</c:v>
                </c:pt>
                <c:pt idx="8">
                  <c:v>1033</c:v>
                </c:pt>
                <c:pt idx="9">
                  <c:v>1028</c:v>
                </c:pt>
                <c:pt idx="10">
                  <c:v>1022</c:v>
                </c:pt>
                <c:pt idx="11">
                  <c:v>1063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F172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788bf783-76ab-4213-9395-a97cf647d0c7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D4ED8"/>
              </a:solidFill>
              <a:effectLst/>
            </c:spPr>
          </c:dPt>
          <c:dPt>
            <c:idx val="1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bubble3D val="0"/>
            <c:spPr>
              <a:solidFill>
                <a:srgbClr val="DC2626"/>
              </a:solidFill>
              <a:effectLst/>
            </c:spPr>
          </c:dPt>
          <c:dPt>
            <c:idx val="6"/>
            <c:bubble3D val="0"/>
            <c:spPr>
              <a:solidFill>
                <a:srgbClr val="F59E0B"/>
              </a:solidFill>
              <a:effectLst/>
            </c:spPr>
          </c:dPt>
          <c:dPt>
            <c:idx val="7"/>
            <c:bubble3D val="0"/>
            <c:spPr>
              <a:solidFill>
                <a:srgbClr val="EC4899"/>
              </a:solidFill>
              <a:effectLst/>
            </c:spPr>
          </c:dPt>
          <c:dPt>
            <c:idx val="8"/>
            <c:bubble3D val="0"/>
            <c:spPr>
              <a:solidFill>
                <a:srgbClr val="6366F1"/>
              </a:solidFill>
              <a:effectLst/>
            </c:spPr>
          </c:dPt>
          <c:dPt>
            <c:idx val="9"/>
            <c:bubble3D val="0"/>
            <c:spPr>
              <a:solidFill>
                <a:srgbClr val="14B8A6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Grocery &amp; Staples</c:v>
                </c:pt>
                <c:pt idx="1">
                  <c:v>Beverages</c:v>
                </c:pt>
                <c:pt idx="2">
                  <c:v>Baby &amp; Kids</c:v>
                </c:pt>
                <c:pt idx="3">
                  <c:v>Household</c:v>
                </c:pt>
                <c:pt idx="4">
                  <c:v>Personal Care</c:v>
                </c:pt>
                <c:pt idx="5">
                  <c:v>Dairy &amp; Eggs</c:v>
                </c:pt>
                <c:pt idx="6">
                  <c:v>Health &amp; Wellness</c:v>
                </c:pt>
                <c:pt idx="7">
                  <c:v>Snacks &amp; Biscuits</c:v>
                </c:pt>
                <c:pt idx="8">
                  <c:v>Frozen &amp; Packaged</c:v>
                </c:pt>
                <c:pt idx="9">
                  <c:v>Stationery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8524490</c:v>
                </c:pt>
                <c:pt idx="1">
                  <c:v>6103556</c:v>
                </c:pt>
                <c:pt idx="2">
                  <c:v>5830020</c:v>
                </c:pt>
                <c:pt idx="3">
                  <c:v>4117425</c:v>
                </c:pt>
                <c:pt idx="4">
                  <c:v>4094006</c:v>
                </c:pt>
                <c:pt idx="5">
                  <c:v>2583370</c:v>
                </c:pt>
                <c:pt idx="6">
                  <c:v>2198950</c:v>
                </c:pt>
                <c:pt idx="7">
                  <c:v>1621167</c:v>
                </c:pt>
                <c:pt idx="8">
                  <c:v>1531307</c:v>
                </c:pt>
                <c:pt idx="9">
                  <c:v>1396281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8afc13b-7ab4-41e4-bd8b-5dca930d9b4a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FCD34D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FCD34D"/>
                </a:solidFill>
                <a:latin typeface="Arial" panose="020B0604020202020204"/>
              </a:rPr>
              <a:t>Top 5 States</a:t>
            </a:r>
            <a:endParaRPr sz="1100" b="0" i="0" u="none" strike="noStrike">
              <a:solidFill>
                <a:srgbClr val="FCD34D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Andhra Pradesh</c:v>
                </c:pt>
                <c:pt idx="1">
                  <c:v>Maharashtra</c:v>
                </c:pt>
                <c:pt idx="2">
                  <c:v>Madhya Pradesh</c:v>
                </c:pt>
                <c:pt idx="3">
                  <c:v>Punjab</c:v>
                </c:pt>
                <c:pt idx="4">
                  <c:v>Bihar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2119252</c:v>
                </c:pt>
                <c:pt idx="1">
                  <c:v>2109858</c:v>
                </c:pt>
                <c:pt idx="2">
                  <c:v>2091429</c:v>
                </c:pt>
                <c:pt idx="3">
                  <c:v>2052446</c:v>
                </c:pt>
                <c:pt idx="4">
                  <c:v>2032761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 cmpd="sng" algn="ctr">
              <a:solidFill>
                <a:srgbClr val="3344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bfc5fe0-bee1-48bd-9d9d-6811a6c1ae5f}"/>
      </c:ext>
    </c:extLst>
  </c:chart>
  <c:spPr>
    <a:solidFill>
      <a:srgbClr val="1A204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FCD34D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FCD34D"/>
                </a:solidFill>
                <a:latin typeface="Arial" panose="020B0604020202020204"/>
              </a:rPr>
              <a:t>Category Mix</a:t>
            </a:r>
            <a:endParaRPr sz="1100" b="0" i="0" u="none" strike="noStrike">
              <a:solidFill>
                <a:srgbClr val="FCD34D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D4ED8"/>
              </a:solidFill>
              <a:effectLst/>
            </c:spPr>
          </c:dPt>
          <c:dPt>
            <c:idx val="1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8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8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8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8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8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8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Grocery</c:v>
                </c:pt>
                <c:pt idx="1">
                  <c:v>Beverages</c:v>
                </c:pt>
                <c:pt idx="2">
                  <c:v>Baby &amp; Kids</c:v>
                </c:pt>
                <c:pt idx="3">
                  <c:v>Household</c:v>
                </c:pt>
                <c:pt idx="4">
                  <c:v>Personal Care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8524490</c:v>
                </c:pt>
                <c:pt idx="1">
                  <c:v>6103556</c:v>
                </c:pt>
                <c:pt idx="2">
                  <c:v>5830020</c:v>
                </c:pt>
                <c:pt idx="3">
                  <c:v>4117425</c:v>
                </c:pt>
                <c:pt idx="4">
                  <c:v>4094006</c:v>
                </c:pt>
                <c:pt idx="5">
                  <c:v>4396281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700" b="0" i="0" u="none" strike="noStrike" kern="1200" baseline="0">
              <a:solidFill>
                <a:srgbClr val="FFFFFF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612c2b-7224-4e88-9e72-462c9ce98d8f}"/>
      </c:ext>
    </c:extLst>
  </c:chart>
  <c:spPr>
    <a:solidFill>
      <a:srgbClr val="1A204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FCD34D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FCD34D"/>
                </a:solidFill>
                <a:latin typeface="Arial" panose="020B0604020202020204"/>
              </a:rPr>
              <a:t>Monthly Trend</a:t>
            </a:r>
            <a:endParaRPr sz="1100" b="0" i="0" u="none" strike="noStrike">
              <a:solidFill>
                <a:srgbClr val="FCD34D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ln w="19050" cap="flat" cmpd="sng" algn="ctr">
              <a:solidFill>
                <a:srgbClr val="3B82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B82F6"/>
              </a:solidFill>
              <a:ln w="9525" cap="flat" cmpd="sng" algn="ctr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J</c:v>
                </c:pt>
                <c:pt idx="1">
                  <c:v>F</c:v>
                </c:pt>
                <c:pt idx="2">
                  <c:v>M</c:v>
                </c:pt>
                <c:pt idx="3">
                  <c:v>A</c:v>
                </c:pt>
                <c:pt idx="4">
                  <c:v>M</c:v>
                </c:pt>
                <c:pt idx="5">
                  <c:v>J</c:v>
                </c:pt>
                <c:pt idx="6">
                  <c:v>J</c:v>
                </c:pt>
                <c:pt idx="7">
                  <c:v>A</c:v>
                </c:pt>
                <c:pt idx="8">
                  <c:v>S</c:v>
                </c:pt>
                <c:pt idx="9">
                  <c:v>O</c:v>
                </c:pt>
                <c:pt idx="10">
                  <c:v>N</c:v>
                </c:pt>
                <c:pt idx="11">
                  <c:v>D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1061</c:v>
                </c:pt>
                <c:pt idx="1">
                  <c:v>987</c:v>
                </c:pt>
                <c:pt idx="2">
                  <c:v>1116</c:v>
                </c:pt>
                <c:pt idx="3">
                  <c:v>1037</c:v>
                </c:pt>
                <c:pt idx="4">
                  <c:v>1010</c:v>
                </c:pt>
                <c:pt idx="5">
                  <c:v>1070</c:v>
                </c:pt>
                <c:pt idx="6">
                  <c:v>1060</c:v>
                </c:pt>
                <c:pt idx="7">
                  <c:v>1106</c:v>
                </c:pt>
                <c:pt idx="8">
                  <c:v>949</c:v>
                </c:pt>
                <c:pt idx="9">
                  <c:v>1091</c:v>
                </c:pt>
                <c:pt idx="10">
                  <c:v>1011</c:v>
                </c:pt>
                <c:pt idx="11">
                  <c:v>1080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ln w="19050" cap="flat" cmpd="sng" algn="ctr">
              <a:solidFill>
                <a:srgbClr val="F9731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7316"/>
              </a:solidFill>
              <a:ln w="9525" cap="flat" cmpd="sng" algn="ctr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J</c:v>
                </c:pt>
                <c:pt idx="1">
                  <c:v>F</c:v>
                </c:pt>
                <c:pt idx="2">
                  <c:v>M</c:v>
                </c:pt>
                <c:pt idx="3">
                  <c:v>A</c:v>
                </c:pt>
                <c:pt idx="4">
                  <c:v>M</c:v>
                </c:pt>
                <c:pt idx="5">
                  <c:v>J</c:v>
                </c:pt>
                <c:pt idx="6">
                  <c:v>J</c:v>
                </c:pt>
                <c:pt idx="7">
                  <c:v>A</c:v>
                </c:pt>
                <c:pt idx="8">
                  <c:v>S</c:v>
                </c:pt>
                <c:pt idx="9">
                  <c:v>O</c:v>
                </c:pt>
                <c:pt idx="10">
                  <c:v>N</c:v>
                </c:pt>
                <c:pt idx="11">
                  <c:v>D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1080</c:v>
                </c:pt>
                <c:pt idx="1">
                  <c:v>985</c:v>
                </c:pt>
                <c:pt idx="2">
                  <c:v>1040</c:v>
                </c:pt>
                <c:pt idx="3">
                  <c:v>1122</c:v>
                </c:pt>
                <c:pt idx="4">
                  <c:v>1111</c:v>
                </c:pt>
                <c:pt idx="5">
                  <c:v>1080</c:v>
                </c:pt>
                <c:pt idx="6">
                  <c:v>1026</c:v>
                </c:pt>
                <c:pt idx="7">
                  <c:v>1181</c:v>
                </c:pt>
                <c:pt idx="8">
                  <c:v>1043</c:v>
                </c:pt>
                <c:pt idx="9">
                  <c:v>1083</c:v>
                </c:pt>
                <c:pt idx="10">
                  <c:v>988</c:v>
                </c:pt>
                <c:pt idx="11">
                  <c:v>1025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</c:v>
                </c:pt>
              </c:strCache>
            </c:strRef>
          </c:tx>
          <c:spPr>
            <a:ln w="19050" cap="flat" cmpd="sng" algn="ctr">
              <a:solidFill>
                <a:srgbClr val="16A3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6A34A"/>
              </a:solidFill>
              <a:ln w="9525" cap="flat" cmpd="sng" algn="ctr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J</c:v>
                </c:pt>
                <c:pt idx="1">
                  <c:v>F</c:v>
                </c:pt>
                <c:pt idx="2">
                  <c:v>M</c:v>
                </c:pt>
                <c:pt idx="3">
                  <c:v>A</c:v>
                </c:pt>
                <c:pt idx="4">
                  <c:v>M</c:v>
                </c:pt>
                <c:pt idx="5">
                  <c:v>J</c:v>
                </c:pt>
                <c:pt idx="6">
                  <c:v>J</c:v>
                </c:pt>
                <c:pt idx="7">
                  <c:v>A</c:v>
                </c:pt>
                <c:pt idx="8">
                  <c:v>S</c:v>
                </c:pt>
                <c:pt idx="9">
                  <c:v>O</c:v>
                </c:pt>
                <c:pt idx="10">
                  <c:v>N</c:v>
                </c:pt>
                <c:pt idx="11">
                  <c:v>D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1101</c:v>
                </c:pt>
                <c:pt idx="1">
                  <c:v>1048</c:v>
                </c:pt>
                <c:pt idx="2">
                  <c:v>1005</c:v>
                </c:pt>
                <c:pt idx="3">
                  <c:v>1085</c:v>
                </c:pt>
                <c:pt idx="4">
                  <c:v>1116</c:v>
                </c:pt>
                <c:pt idx="5">
                  <c:v>1040</c:v>
                </c:pt>
                <c:pt idx="6">
                  <c:v>1055</c:v>
                </c:pt>
                <c:pt idx="7">
                  <c:v>1066</c:v>
                </c:pt>
                <c:pt idx="8">
                  <c:v>1033</c:v>
                </c:pt>
                <c:pt idx="9">
                  <c:v>1028</c:v>
                </c:pt>
                <c:pt idx="10">
                  <c:v>1022</c:v>
                </c:pt>
                <c:pt idx="11">
                  <c:v>1063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 cmpd="sng" algn="ctr">
              <a:solidFill>
                <a:srgbClr val="3344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700" b="0" i="0" u="none" strike="noStrike" kern="1200" baseline="0">
              <a:solidFill>
                <a:srgbClr val="FFFFFF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c84019b-36b9-4fec-b837-a102a8c66a7d}"/>
      </c:ext>
    </c:extLst>
  </c:chart>
  <c:spPr>
    <a:solidFill>
      <a:srgbClr val="1A204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FCD34D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FCD34D"/>
                </a:solidFill>
                <a:latin typeface="Arial" panose="020B0604020202020204"/>
              </a:rPr>
              <a:t>Revenue by Region</a:t>
            </a:r>
            <a:endParaRPr sz="1100" b="0" i="0" u="none" strike="noStrike">
              <a:solidFill>
                <a:srgbClr val="FCD34D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South</c:v>
                </c:pt>
                <c:pt idx="1">
                  <c:v>East</c:v>
                </c:pt>
                <c:pt idx="2">
                  <c:v>North</c:v>
                </c:pt>
                <c:pt idx="3">
                  <c:v>West</c:v>
                </c:pt>
                <c:pt idx="4">
                  <c:v>Central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10059654</c:v>
                </c:pt>
                <c:pt idx="1">
                  <c:v>7998470</c:v>
                </c:pt>
                <c:pt idx="2">
                  <c:v>7976487</c:v>
                </c:pt>
                <c:pt idx="3">
                  <c:v>7951163</c:v>
                </c:pt>
                <c:pt idx="4">
                  <c:v>4014796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 cmpd="sng" algn="ctr">
              <a:solidFill>
                <a:srgbClr val="3344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cc3001e-672b-42e1-91e3-a01623633a5a}"/>
      </c:ext>
    </c:extLst>
  </c:chart>
  <c:spPr>
    <a:solidFill>
      <a:srgbClr val="1A204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FCD34D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FCD34D"/>
                </a:solidFill>
                <a:latin typeface="Arial" panose="020B0604020202020204"/>
              </a:rPr>
              <a:t>Quarterly Revenue</a:t>
            </a:r>
            <a:endParaRPr sz="1100" b="0" i="0" u="none" strike="noStrike">
              <a:solidFill>
                <a:srgbClr val="FCD34D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(₹L)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9420162</c:v>
                </c:pt>
                <c:pt idx="1">
                  <c:v>9670984</c:v>
                </c:pt>
                <c:pt idx="2">
                  <c:v>9518003</c:v>
                </c:pt>
                <c:pt idx="3">
                  <c:v>9391422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 cmpd="sng" algn="ctr">
              <a:solidFill>
                <a:srgbClr val="3344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df6338f3-8591-447c-950b-200bd827f53d}"/>
      </c:ext>
    </c:extLst>
  </c:chart>
  <c:spPr>
    <a:solidFill>
      <a:srgbClr val="1A2040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0"/>
            <a:ext cx="88696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-731520"/>
            <a:ext cx="5029200" cy="5029200"/>
          </a:xfrm>
          <a:prstGeom prst="ellipse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720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5720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 CASE STUDY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Performance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CD3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</a:rPr>
              <a:t>Ragapriyan's SuperMart  ·  FY 2022–2024  ·  19 States  ·  5 Regions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127248"/>
            <a:ext cx="5029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291840"/>
            <a:ext cx="1920240" cy="960120"/>
          </a:xfrm>
          <a:prstGeom prst="rect">
            <a:avLst/>
          </a:prstGeom>
          <a:solidFill>
            <a:srgbClr val="1A3068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33756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CD34D"/>
                </a:solidFill>
              </a:rPr>
              <a:t>₹38.00Cr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376732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3291840"/>
            <a:ext cx="1920240" cy="960120"/>
          </a:xfrm>
          <a:prstGeom prst="rect">
            <a:avLst/>
          </a:prstGeom>
          <a:solidFill>
            <a:srgbClr val="1A3068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51760" y="333756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CD34D"/>
                </a:solidFill>
              </a:rPr>
              <a:t>₹19.32Cr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51760" y="376732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Total Profit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3291840"/>
            <a:ext cx="1920240" cy="960120"/>
          </a:xfrm>
          <a:prstGeom prst="rect">
            <a:avLst/>
          </a:prstGeom>
          <a:solidFill>
            <a:srgbClr val="1A3068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33756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CD34D"/>
                </a:solidFill>
              </a:rPr>
              <a:t>50.84%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00600" y="376732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Profit Margin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3291840"/>
            <a:ext cx="1920240" cy="960120"/>
          </a:xfrm>
          <a:prstGeom prst="rect">
            <a:avLst/>
          </a:prstGeom>
          <a:solidFill>
            <a:srgbClr val="1A3068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9440" y="333756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CD34D"/>
                </a:solidFill>
              </a:rPr>
              <a:t>50,000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376732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Orders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4828032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altLang="en-US" sz="900" dirty="0"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</a:rPr>
              <a:t>It helps companies understand profit, customer demand, and business growth</a:t>
            </a:r>
            <a:endParaRPr lang="en-US" altLang="en-US" sz="900" dirty="0"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25000"/>
                      <a:lumOff val="75000"/>
                    </a:schemeClr>
                  </a:gs>
                  <a:gs pos="100000">
                    <a:schemeClr val="accent4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📌  BUSINESS CONTEXT  &amp;  PROBLEM STATEMENT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713105"/>
            <a:ext cx="6764655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13232"/>
            <a:ext cx="64008" cy="1234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86384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🏬  Pan-India Presence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170432"/>
            <a:ext cx="3749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19 Indian states across 5 regions — North, South, East, West &amp; Central.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2130425"/>
            <a:ext cx="674497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130552"/>
            <a:ext cx="64008" cy="1234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203704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📋  Board Meeting Due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175" y="2587625"/>
            <a:ext cx="6628765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CEO needs a 1-page executive summary with charts for next week's board.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3547745"/>
            <a:ext cx="673735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547872"/>
            <a:ext cx="64008" cy="1234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621024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🏆  Regional Bonus Race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4005072"/>
            <a:ext cx="3749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Regional Sales Heads competing for Q4 bonuses. Accurate data is critical.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Ragapriyan's SuperMart  |  Sales Analysis 2022–2024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📐  KPI SUMMARY TABLE  —  FY 2022–2024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01168" y="749808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749808"/>
            <a:ext cx="201168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74980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" y="1060704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" y="1408176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D4ED8"/>
                </a:solidFill>
              </a:rPr>
              <a:t>₹38,00,05,710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274320" y="2011680"/>
            <a:ext cx="186537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Sum of all Sales_Amount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95728" y="749808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95728" y="749808"/>
            <a:ext cx="201168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74980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87168" y="1060704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Total Profit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41448" y="1408176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6A34A"/>
                </a:solidFill>
              </a:rPr>
              <a:t>₹19,31,88,410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468880" y="2011680"/>
            <a:ext cx="186537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Sum of all Profit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90288" y="749808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90288" y="749808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74980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🎯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81728" y="1060704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Profit Margin 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36008" y="1408176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D9488"/>
                </a:solidFill>
              </a:rPr>
              <a:t>50.84%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663440" y="2011680"/>
            <a:ext cx="186537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Profit / Revenue × 100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84848" y="749808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84848" y="749808"/>
            <a:ext cx="201168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74980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🧾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76288" y="1060704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Avg Order Value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30568" y="1408176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7C3AED"/>
                </a:solidFill>
              </a:rPr>
              <a:t>₹760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858000" y="2011680"/>
            <a:ext cx="186537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Revenue / Total Orders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01168" y="283464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" y="2834640"/>
            <a:ext cx="201168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283464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🏷️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2608" y="3145536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Revenue Lost (Disc)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6888" y="3493008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97316"/>
                </a:solidFill>
              </a:rPr>
              <a:t>₹3,96,81,610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274320" y="4096512"/>
            <a:ext cx="186537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MRP×Qty − Sales_Amount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395728" y="283464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395728" y="2834640"/>
            <a:ext cx="201168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95728" y="283464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487168" y="3145536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Disc % of Gross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441448" y="3493008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6A34A"/>
                </a:solidFill>
              </a:rPr>
              <a:t>10.4%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2468880" y="4096512"/>
            <a:ext cx="186537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&lt; 15% threshold ✅ Safe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90288" y="283464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90288" y="2834640"/>
            <a:ext cx="201168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90288" y="283464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⬆️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681728" y="3145536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YOY Growth 22→23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36008" y="3493008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6A34A"/>
                </a:solidFill>
              </a:rPr>
              <a:t>+0.0046%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4663440" y="4096512"/>
            <a:ext cx="186537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Revenue grew ₹1.84L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784848" y="283464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784848" y="2834640"/>
            <a:ext cx="201168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84848" y="283464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⬇️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76288" y="3145536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YOY Growth 23→24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30568" y="3493008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1550" b="1" dirty="0">
                <a:solidFill>
                  <a:srgbClr val="16A34A"/>
                </a:solidFill>
              </a:rPr>
              <a:t>+0</a:t>
            </a:r>
            <a:r>
              <a:rPr lang="en-US" sz="1550" b="1" dirty="0">
                <a:solidFill>
                  <a:srgbClr val="16A34A"/>
                </a:solidFill>
              </a:rPr>
              <a:t>.00199%</a:t>
            </a:r>
            <a:endParaRPr lang="en-US" sz="1550" b="1" dirty="0">
              <a:solidFill>
                <a:srgbClr val="16A34A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6858000" y="4104132"/>
            <a:ext cx="186537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Slight dip — monitor closely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Ragapriyan's SuperMart  |  Sales Analysis 2022–2024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📊  PIVOT TABLE 1 — REGION × YEAR  (Revenue + Profit)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228600" y="713232"/>
          <a:ext cx="8723376" cy="3072384"/>
        </p:xfrm>
        <a:graphic>
          <a:graphicData uri="http://schemas.openxmlformats.org/drawingml/2006/table">
            <a:tbl>
              <a:tblPr/>
              <a:tblGrid>
                <a:gridCol w="1188720"/>
                <a:gridCol w="941832"/>
                <a:gridCol w="941832"/>
                <a:gridCol w="941832"/>
                <a:gridCol w="941832"/>
                <a:gridCol w="941832"/>
                <a:gridCol w="941832"/>
                <a:gridCol w="941832"/>
                <a:gridCol w="941832"/>
              </a:tblGrid>
              <a:tr h="384048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2022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B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B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2024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B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3-Yr 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B"/>
                    </a:solidFill>
                  </a:tcPr>
                </a:tc>
                <a:tc hMerge="1">
                  <a:tcPr/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Profit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Profit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Profit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Profit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South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₹32.89L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₹16.73L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₹34.25L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₹17.46L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₹33.46L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₹17.04L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F4B"/>
                          </a:solidFill>
                        </a:rPr>
                        <a:t>₹100.60L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F4B"/>
                          </a:solidFill>
                        </a:rPr>
                        <a:t>₹51.23L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East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₹26.49L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₹13.47L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₹27.54L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₹13.99L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₹25.96L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₹13.21L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F4B"/>
                          </a:solidFill>
                        </a:rPr>
                        <a:t>₹79.99L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F4B"/>
                          </a:solidFill>
                        </a:rPr>
                        <a:t>₹40.67L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North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₹26.33L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₹13.37L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₹26.98L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₹13.70L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₹26.46L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₹13.46L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F4B"/>
                          </a:solidFill>
                        </a:rPr>
                        <a:t>₹79.77L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F4B"/>
                          </a:solidFill>
                        </a:rPr>
                        <a:t>₹40.53L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₹26.35L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₹13.41L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₹25.94L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₹13.20L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₹27.22L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₹13.85L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F4B"/>
                          </a:solidFill>
                        </a:rPr>
                        <a:t>₹79.51L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F4B"/>
                          </a:solidFill>
                        </a:rPr>
                        <a:t>₹40.46L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Central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₹13.72L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₹6.97L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₹12.91L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₹6.56L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₹13.52L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₹6.88L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F4B"/>
                          </a:solidFill>
                        </a:rPr>
                        <a:t>₹40.15L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F4B"/>
                          </a:solidFill>
                        </a:rPr>
                        <a:t>₹20.41L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₹125.78L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₹63.95L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₹127.62L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₹64.91L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₹126.62L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₹64.43L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₹380.02L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₹193.29L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224528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💡  KEY INSIGHT:  South dominates with ₹1.01Cr (26.5% share). Central is the smallest region at just 10.6%. West showed the strongest growth in 2024 (+4.93% vs 2023).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Ragapriyan's SuperMart  |  Sales Analysis 2022–2024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📊  BAR CHART — TOP 10 STATES BY REVENUE  (2022–2024)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85800"/>
          <a:ext cx="64008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749808"/>
            <a:ext cx="2011680" cy="1051560"/>
          </a:xfrm>
          <a:prstGeom prst="rect">
            <a:avLst/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967728" y="822960"/>
            <a:ext cx="457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🥇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06640" y="841248"/>
            <a:ext cx="1417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Andhra Pradesh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06640" y="118872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₹21.19L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06640" y="1481328"/>
            <a:ext cx="1417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South Region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903720" y="1984248"/>
            <a:ext cx="2011680" cy="1051560"/>
          </a:xfrm>
          <a:prstGeom prst="rect">
            <a:avLst/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67728" y="2057400"/>
            <a:ext cx="457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🥈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406640" y="2075688"/>
            <a:ext cx="1417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Maharashtra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406640" y="242316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₹21.10L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06640" y="2715768"/>
            <a:ext cx="1417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West Region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903720" y="3218688"/>
            <a:ext cx="2011680" cy="1051560"/>
          </a:xfrm>
          <a:prstGeom prst="rect">
            <a:avLst/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967728" y="3291840"/>
            <a:ext cx="457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🥉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406640" y="3310128"/>
            <a:ext cx="1417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Madhya Pradesh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406640" y="365760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₹20.91L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06640" y="3950208"/>
            <a:ext cx="1417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Central Region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903720" y="4526280"/>
            <a:ext cx="201168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03720" y="452628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Orange = #10 Haryana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Ragapriyan's SuperMart  |  Sales Analysis 2022–2024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📈  LINE CHART — MONTHLY REVENUE TREND  (Jan 2022 – Dec 2024)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85800"/>
          <a:ext cx="859536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434840"/>
            <a:ext cx="269748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434840"/>
            <a:ext cx="2542032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📅  August peak: ₹11.81L (2023) — highest single month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182112" y="4434840"/>
            <a:ext cx="269748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73552" y="4434840"/>
            <a:ext cx="2542032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📉  Sep 2022 dip: ₹9.49L — lowest across 3 years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089904" y="4434840"/>
            <a:ext cx="269748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81344" y="4434840"/>
            <a:ext cx="2542032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🔄  All 3 years track similar — stable, no major swings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Ragapriyan's SuperMart  |  Sales Analysis 2022–2024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🥧  PIE CHART — CATEGORY-WISE REVENUE CONTRIBUTION  (2022–2024)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658368"/>
          <a:ext cx="502920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49240" y="658368"/>
            <a:ext cx="3566160" cy="4251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394960" y="713232"/>
          <a:ext cx="3429000" cy="3771900"/>
        </p:xfrm>
        <a:graphic>
          <a:graphicData uri="http://schemas.openxmlformats.org/drawingml/2006/table">
            <a:tbl>
              <a:tblPr/>
              <a:tblGrid>
                <a:gridCol w="1965960"/>
                <a:gridCol w="731520"/>
                <a:gridCol w="731520"/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Share%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Margin%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Grocery &amp; Staples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D4ED8"/>
                          </a:solidFill>
                        </a:rPr>
                        <a:t>22.4%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</a:rPr>
                        <a:t>53%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Beverages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D4ED8"/>
                          </a:solidFill>
                        </a:rPr>
                        <a:t>16.1%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50%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Baby &amp; Kids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D4ED8"/>
                          </a:solidFill>
                        </a:rPr>
                        <a:t>15.3%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50.3%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Household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10.8%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50.2%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Personal Care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10.8%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50.2%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Dairy &amp; Eggs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6.8%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50.3%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Health &amp; Wellness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5.8%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50.4%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Snacks &amp; Biscuits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4.3%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50.3%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Frozen &amp; Packaged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4%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50.1%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Stationery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3.7%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50.6%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Ragapriyan's SuperMart  |  Sales Analysis 2022–2024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📋  PIVOT 2: CATEGORY × QUARTER  +  TASK 7: DISCOUNT IMPACT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228600" y="713232"/>
          <a:ext cx="8686800" cy="2414016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640080"/>
                <a:gridCol w="822960"/>
                <a:gridCol w="640080"/>
                <a:gridCol w="822960"/>
                <a:gridCol w="640080"/>
                <a:gridCol w="822960"/>
                <a:gridCol w="640080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Q1 Rev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Q1 Mgn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Q2 Rev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Q2 Mgn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Q3 Rev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Q3 Mgn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Q4 Rev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Q4 Mgn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Grocery &amp; Staples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D4ED8"/>
                          </a:solidFill>
                        </a:rPr>
                        <a:t>₹2128.7L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53%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D4ED8"/>
                          </a:solidFill>
                        </a:rPr>
                        <a:t>₹2200.7L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53%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D4ED8"/>
                          </a:solidFill>
                        </a:rPr>
                        <a:t>₹2117.7L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53%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D4ED8"/>
                          </a:solidFill>
                        </a:rPr>
                        <a:t>₹2077.3L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53%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Beverages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D4ED8"/>
                          </a:solidFill>
                        </a:rPr>
                        <a:t>₹1504.3L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50%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D4ED8"/>
                          </a:solidFill>
                        </a:rPr>
                        <a:t>₹1498L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50%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D4ED8"/>
                          </a:solidFill>
                        </a:rPr>
                        <a:t>₹1566.8L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50%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D4ED8"/>
                          </a:solidFill>
                        </a:rPr>
                        <a:t>₹1534.5L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50%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Baby &amp; Kids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D4ED8"/>
                          </a:solidFill>
                        </a:rPr>
                        <a:t>₹1409.6L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51%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D4ED8"/>
                          </a:solidFill>
                        </a:rPr>
                        <a:t>₹1550.5L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51%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D4ED8"/>
                          </a:solidFill>
                        </a:rPr>
                        <a:t>₹1503L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50%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D4ED8"/>
                          </a:solidFill>
                        </a:rPr>
                        <a:t>₹1367L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50%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Household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D4ED8"/>
                          </a:solidFill>
                        </a:rPr>
                        <a:t>₹1027.8L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50%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D4ED8"/>
                          </a:solidFill>
                        </a:rPr>
                        <a:t>₹1074.2L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50%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D4ED8"/>
                          </a:solidFill>
                        </a:rPr>
                        <a:t>₹1046.9L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50%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D4ED8"/>
                          </a:solidFill>
                        </a:rPr>
                        <a:t>₹968.4L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50%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Personal Care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D4ED8"/>
                          </a:solidFill>
                        </a:rPr>
                        <a:t>₹976L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50%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D4ED8"/>
                          </a:solidFill>
                        </a:rPr>
                        <a:t>₹1055.6L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50%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D4ED8"/>
                          </a:solidFill>
                        </a:rPr>
                        <a:t>₹999L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50%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D4ED8"/>
                          </a:solidFill>
                        </a:rPr>
                        <a:t>₹1063.3L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50%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3108960"/>
            <a:ext cx="4160520" cy="1709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318211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🏷️  TASK 7 — DISCOUNT IMPACT ANALYSIS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356616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Revenue Lost to Discounts:  </a:t>
            </a:r>
            <a:r>
              <a:rPr lang="en-US" sz="1300" b="1" dirty="0">
                <a:solidFill>
                  <a:srgbClr val="DC2626"/>
                </a:solidFill>
              </a:rPr>
              <a:t>₹3,96,81,610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397764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Discount % of Gross Revenue:  10.4%</a:t>
            </a:r>
            <a:endParaRPr lang="en-US" sz="1100" dirty="0"/>
          </a:p>
        </p:txBody>
      </p:sp>
      <p:sp>
        <p:nvSpPr>
          <p:cNvPr id="4" name="Shape 6"/>
          <p:cNvSpPr/>
          <p:nvPr/>
        </p:nvSpPr>
        <p:spPr>
          <a:xfrm>
            <a:off x="365760" y="4325112"/>
            <a:ext cx="356616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4332732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A34A"/>
                </a:solidFill>
              </a:rPr>
              <a:t>✅  STATUS: SAFE — 10.4% &lt; 15% threshold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17720" y="3108960"/>
            <a:ext cx="4297680" cy="1709928"/>
          </a:xfrm>
          <a:prstGeom prst="rect">
            <a:avLst/>
          </a:prstGeom>
          <a:solidFill>
            <a:srgbClr val="F0F4FF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36592" y="3182112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📅  TASK 7 (Q7) — QUARTERLY STRENGTH RANK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36592" y="3584448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🥇 STRONGEST  Q2 (Apr–Jun)  —  ₹96.71L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36592" y="3877056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🥈 2nd  Q3 (Jul–Sep)  —  ₹95.18L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36592" y="4169664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🥉 3rd  Q1 (Jan–Mar)  —  ₹94.20L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736592" y="4462272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4th  Q4 (Oct–Dec)  —  ₹93.91L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Ragapriyan's SuperMart  |  Sales Analysis 2022–2024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❔  BUSINESS QUESTIONS — ANSWERED WITH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8686800" cy="530352"/>
          </a:xfrm>
          <a:prstGeom prst="rect">
            <a:avLst/>
          </a:prstGeom>
          <a:solidFill>
            <a:srgbClr val="1A306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13232"/>
            <a:ext cx="54864" cy="5303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49808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</a:rPr>
              <a:t>Q1. Which region led revenue in 2024?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43400" y="749808"/>
            <a:ext cx="4572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🏆 South Region — ₹33.46L  (26.4% share in 2024)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0" y="804672"/>
            <a:ext cx="27432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325880"/>
            <a:ext cx="8686800" cy="530352"/>
          </a:xfrm>
          <a:prstGeom prst="rect">
            <a:avLst/>
          </a:prstGeom>
          <a:solidFill>
            <a:srgbClr val="1620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325880"/>
            <a:ext cx="54864" cy="5303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362456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</a:rPr>
              <a:t>Q2. Which category had highest margin?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43400" y="1362456"/>
            <a:ext cx="4572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📈 Grocery &amp; Staples — 53.0% profit margin (star performer)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6240" y="1417320"/>
            <a:ext cx="27432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1938528"/>
            <a:ext cx="8686800" cy="530352"/>
          </a:xfrm>
          <a:prstGeom prst="rect">
            <a:avLst/>
          </a:prstGeom>
          <a:solidFill>
            <a:srgbClr val="1A306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938528"/>
            <a:ext cx="54864" cy="5303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975104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</a:rPr>
              <a:t>Q3. Revenue growth 2022 → 2024?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43400" y="1975104"/>
            <a:ext cx="4572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📊 +0.67% overall growth (22→23: +0.0046%,  23→24: -0.0019%)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06240" y="2029968"/>
            <a:ext cx="27432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2551176"/>
            <a:ext cx="8686800" cy="530352"/>
          </a:xfrm>
          <a:prstGeom prst="rect">
            <a:avLst/>
          </a:prstGeom>
          <a:solidFill>
            <a:srgbClr val="1620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551176"/>
            <a:ext cx="54864" cy="5303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87752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</a:rPr>
              <a:t>Q4. Which month shows highest sales consistently?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43400" y="2587752"/>
            <a:ext cx="4572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☀️ August consistently peaks (₹11.06L in 2022, ₹11.81L in 2023, ₹10.66L in 2024)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06240" y="2642616"/>
            <a:ext cx="27432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3163824"/>
            <a:ext cx="8686800" cy="530352"/>
          </a:xfrm>
          <a:prstGeom prst="rect">
            <a:avLst/>
          </a:prstGeom>
          <a:solidFill>
            <a:srgbClr val="1A306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3163824"/>
            <a:ext cx="54864" cy="5303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200400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</a:rPr>
              <a:t>Q5. Total revenue lost to discounts?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43400" y="3200400"/>
            <a:ext cx="4572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🏷️ ₹3,96,81,610 lost — but only 10.4% of gross (SAFE &lt; 15%)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06240" y="3255264"/>
            <a:ext cx="27432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3776472"/>
            <a:ext cx="8686800" cy="530352"/>
          </a:xfrm>
          <a:prstGeom prst="rect">
            <a:avLst/>
          </a:prstGeom>
          <a:solidFill>
            <a:srgbClr val="1620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776472"/>
            <a:ext cx="54864" cy="5303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813048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</a:rPr>
              <a:t>Q6. Best &amp; worst profit margin state?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343400" y="3813048"/>
            <a:ext cx="4572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🏅 Best: Goa (51.07%)  |  ⚠️ Worst: West Bengal (50.63%)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06240" y="3867912"/>
            <a:ext cx="27432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4389120"/>
            <a:ext cx="8686800" cy="530352"/>
          </a:xfrm>
          <a:prstGeom prst="rect">
            <a:avLst/>
          </a:prstGeom>
          <a:solidFill>
            <a:srgbClr val="1A306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4389120"/>
            <a:ext cx="54864" cy="5303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425696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</a:rPr>
              <a:t>Q7. Which quarter is consistently strongest?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343400" y="4425696"/>
            <a:ext cx="4572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📅 Q2 (Apr–Jun) is #1 at ₹96.71L — festival &amp; summer season effect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206240" y="4480560"/>
            <a:ext cx="27432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5577"/>
                </a:solidFill>
              </a:rPr>
              <a:t>Ragapriyan's SuperMart  |  Sales Analysis 2022–2024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📝  EXECUTIVE SUMMARY — CEO ONE-PAGE BRIEF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1609344" cy="777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713232"/>
            <a:ext cx="160934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₹38Cr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1097280"/>
            <a:ext cx="16093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84248" y="685800"/>
            <a:ext cx="1609344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84248" y="713232"/>
            <a:ext cx="160934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50.84%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84248" y="1097280"/>
            <a:ext cx="16093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Profit Margin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39896" y="685800"/>
            <a:ext cx="160934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39896" y="713232"/>
            <a:ext cx="160934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South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39896" y="1097280"/>
            <a:ext cx="16093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Top Region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95544" y="685800"/>
            <a:ext cx="1609344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95544" y="713232"/>
            <a:ext cx="160934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Grocery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95544" y="1097280"/>
            <a:ext cx="16093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Star Category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51192" y="685800"/>
            <a:ext cx="1609344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51192" y="713232"/>
            <a:ext cx="160934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Q2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51192" y="1097280"/>
            <a:ext cx="16093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Peak Quarter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1572768"/>
            <a:ext cx="868680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572768"/>
            <a:ext cx="457200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572768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1618488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</a:rPr>
              <a:t>Revenue Stability: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926080" y="1636776"/>
            <a:ext cx="5852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SuperMart generated ₹38Cr across FY 2022–24 with a healthy 50.84% profit margin — indicating operationally efficient performance across all regions.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2249424"/>
            <a:ext cx="8686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249424"/>
            <a:ext cx="4572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2249424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" y="2295144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South is the Growth Engine: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926080" y="2313432"/>
            <a:ext cx="5852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The South region consistently leads with 26.5% revenue share (₹10.06Cr) and showed the highest 3-year total. West region demonstrated the best 2024 rebound (+4.93% vs 2023).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2926080"/>
            <a:ext cx="868680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2926080"/>
            <a:ext cx="45720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2926080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4672" y="2971800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Grocery is the Star, Stationery is the Laggard: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926080" y="2990088"/>
            <a:ext cx="5852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Grocery &amp; Staples leads both revenue (22.4%) and margin (53%) — the clear star. Stationery contributes only 3.7% with 50.6% margin and warrants strategic review.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3602736"/>
            <a:ext cx="8686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3602736"/>
            <a:ext cx="45720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3602736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04672" y="3648456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Discount Strategy is Under Control: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926080" y="3666744"/>
            <a:ext cx="5852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Revenue lost to discounts is ₹3.97Cr (9.46% of gross) — well below the 15% danger threshold. This signals disciplined pricing with room to use targeted promotions strategically.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8600" y="4279392"/>
            <a:ext cx="868680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" y="4279392"/>
            <a:ext cx="457200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4279392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04672" y="4325112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</a:rPr>
              <a:t>Q2 Seasonality — Leverage It: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926080" y="4343400"/>
            <a:ext cx="5852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Q2 (Apr–Jun) is consistently the strongest quarter at ₹96.71L. August is the peak month. SuperMart should double down on Q2 inventory planning and marketing spend.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Ragapriyan's SuperMart  |  Sales Analysis 2022–2024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🗂️  DASHBOARD — RAGAPRIYAN'S SUPERMART AT A GLANCE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37160" y="64008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343400" y="640080"/>
          <a:ext cx="27432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7178040" y="640080"/>
          <a:ext cx="1828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137160" y="2852928"/>
            <a:ext cx="1600200" cy="640080"/>
          </a:xfrm>
          <a:prstGeom prst="rect">
            <a:avLst/>
          </a:prstGeom>
          <a:solidFill>
            <a:srgbClr val="1A2040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3"/>
          <p:cNvSpPr/>
          <p:nvPr/>
        </p:nvSpPr>
        <p:spPr>
          <a:xfrm>
            <a:off x="137160" y="2880360"/>
            <a:ext cx="1600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4ED8"/>
                </a:solidFill>
              </a:rPr>
              <a:t>₹38.00Cr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137160" y="3200400"/>
            <a:ext cx="1600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Revenue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1920240" y="2852928"/>
            <a:ext cx="1600200" cy="640080"/>
          </a:xfrm>
          <a:prstGeom prst="rect">
            <a:avLst/>
          </a:prstGeom>
          <a:solidFill>
            <a:srgbClr val="1A2040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1920240" y="2880360"/>
            <a:ext cx="1600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₹19.32Cr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920240" y="3200400"/>
            <a:ext cx="1600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Profit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3703320" y="2852928"/>
            <a:ext cx="1600200" cy="640080"/>
          </a:xfrm>
          <a:prstGeom prst="rect">
            <a:avLst/>
          </a:prstGeom>
          <a:solidFill>
            <a:srgbClr val="1A20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3703320" y="2880360"/>
            <a:ext cx="1600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50.84%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703320" y="3200400"/>
            <a:ext cx="1600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Margin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486400" y="2852928"/>
            <a:ext cx="1600200" cy="640080"/>
          </a:xfrm>
          <a:prstGeom prst="rect">
            <a:avLst/>
          </a:prstGeom>
          <a:solidFill>
            <a:srgbClr val="1A2040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5486400" y="2880360"/>
            <a:ext cx="1600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</a:rPr>
              <a:t>₹760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0" y="3200400"/>
            <a:ext cx="1600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Avg Order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7269480" y="2852928"/>
            <a:ext cx="1600200" cy="640080"/>
          </a:xfrm>
          <a:prstGeom prst="rect">
            <a:avLst/>
          </a:prstGeom>
          <a:solidFill>
            <a:srgbClr val="1A2040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269480" y="2880360"/>
            <a:ext cx="1600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</a:rPr>
              <a:t>10.4%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269480" y="3200400"/>
            <a:ext cx="1600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Disc Lost</a:t>
            </a:r>
            <a:endParaRPr lang="en-US" sz="900" dirty="0"/>
          </a:p>
        </p:txBody>
      </p:sp>
      <p:graphicFrame>
        <p:nvGraphicFramePr>
          <p:cNvPr id="22" name="Chart 3"/>
          <p:cNvGraphicFramePr/>
          <p:nvPr/>
        </p:nvGraphicFramePr>
        <p:xfrm>
          <a:off x="137160" y="3593592"/>
          <a:ext cx="411480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3" name="Chart 4"/>
          <p:cNvGraphicFramePr/>
          <p:nvPr/>
        </p:nvGraphicFramePr>
        <p:xfrm>
          <a:off x="4343400" y="3593592"/>
          <a:ext cx="269748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Shape 17"/>
          <p:cNvSpPr/>
          <p:nvPr/>
        </p:nvSpPr>
        <p:spPr>
          <a:xfrm>
            <a:off x="7178040" y="3593592"/>
            <a:ext cx="1828800" cy="1463040"/>
          </a:xfrm>
          <a:prstGeom prst="rect">
            <a:avLst/>
          </a:prstGeom>
          <a:solidFill>
            <a:srgbClr val="1A204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178040" y="3657600"/>
            <a:ext cx="1828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CD34D"/>
                </a:solidFill>
              </a:rPr>
              <a:t>INSIGHT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CD34D"/>
                </a:solidFill>
              </a:rPr>
              <a:t>SUMMARY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7242048" y="4087368"/>
            <a:ext cx="1691640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South leads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7242048" y="4261104"/>
            <a:ext cx="1691640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Grocery = 53%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7242048" y="4434840"/>
            <a:ext cx="1691640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Aug peaks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7242048" y="4608576"/>
            <a:ext cx="1691640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Q2 strongest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7242048" y="4782312"/>
            <a:ext cx="1691640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Disc safe 9.46%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466"/>
                </a:solidFill>
              </a:rPr>
              <a:t>Ragapriyan's SuperMart  |  Sales Analysis 2022–2024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57150"/>
            <a:ext cx="5029200" cy="5029200"/>
          </a:xfrm>
          <a:prstGeom prst="ellipse">
            <a:avLst/>
          </a:prstGeom>
          <a:solidFill>
            <a:srgbClr val="1A3068"/>
          </a:solidFill>
          <a:ln w="12700">
            <a:solidFill>
              <a:srgbClr val="1A30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3860" y="193167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FFF00"/>
                </a:solidFill>
              </a:rPr>
              <a:t>THANK YOU</a:t>
            </a:r>
            <a:endParaRPr lang="en-US" sz="3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5678</Words>
  <Application>WPS Presentation</Application>
  <PresentationFormat>On-screen Show (16:9)</PresentationFormat>
  <Paragraphs>625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Ragapriyan's SuperMart — Sales Performance Analysis 2022–2024</dc:title>
  <dc:creator>PptxGenJS</dc:creator>
  <dc:subject>PptxGenJS Presentation</dc:subject>
  <cp:lastModifiedBy>MADHESH_HOPE_01</cp:lastModifiedBy>
  <cp:revision>4</cp:revision>
  <dcterms:created xsi:type="dcterms:W3CDTF">2026-05-19T03:06:00Z</dcterms:created>
  <dcterms:modified xsi:type="dcterms:W3CDTF">2026-05-25T08:30:43Z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2ECA9E362D084B129417AED22941F01A_12</vt:lpwstr>
  </property>
  <property fmtid="{D5CDD505-2E9C-101B-9397-08002B2CF9AE}" pid="3" name="KSOProductBuildVer">
    <vt:lpwstr>1033-12.1.0.26372</vt:lpwstr>
  </property>
</Properties>
</file>